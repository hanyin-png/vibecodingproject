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9144000" cy="5143500"/>
  <p:embeddedFontLst>
    <p:embeddedFont>
      <p:font typeface="Quattrocento Sans" panose="020B0502050000020003"/>
      <p:regular r:id="rId16"/>
    </p:embeddedFont>
    <p:embeddedFont>
      <p:font typeface="LXGW Bright" charset="-122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温度传感器（归一化）</c:f>
              <c:strCache>
                <c:ptCount val="1"/>
                <c:pt idx="0">
                  <c:v>温度传感器（归一化）</c:v>
                </c:pt>
              </c:strCache>
            </c:strRef>
          </c:tx>
          <c:spPr>
            <a:ln w="25400" cap="rnd" cmpd="sng" algn="ctr">
              <a:solidFill>
                <a:srgbClr val="00ACEE"/>
              </a:solidFill>
              <a:prstDash val="solid"/>
              <a:round/>
            </a:ln>
          </c:spPr>
          <c:marker>
            <c:symbol val="circle"/>
            <c:size val="4"/>
            <c:spPr>
              <a:solidFill>
                <a:srgbClr val="00ACEE"/>
              </a:solidFill>
              <a:ln w="25400" cap="flat" cmpd="sng" algn="ctr">
                <a:solidFill>
                  <a:srgbClr val="00ACEE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tx1"/>
                    </a:solidFill>
                    <a:latin typeface="Quattrocento Sans" panose="020B0502050000020003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{"0","25","50","75","100","125","150","175","192"}</c:f>
              <c:strCache>
                <c:ptCount val="9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192</c:v>
                </c:pt>
              </c:strCache>
            </c:strRef>
          </c:cat>
          <c:val>
            <c:numRef>
              <c:f>{0.5,0.51,0.53,0.56,0.6,0.65,0.71,0.78,0.86}</c:f>
              <c:numCache>
                <c:formatCode>General</c:formatCode>
                <c:ptCount val="9"/>
                <c:pt idx="0">
                  <c:v>0.5</c:v>
                </c:pt>
                <c:pt idx="1">
                  <c:v>0.51</c:v>
                </c:pt>
                <c:pt idx="2">
                  <c:v>0.53</c:v>
                </c:pt>
                <c:pt idx="3">
                  <c:v>0.56</c:v>
                </c:pt>
                <c:pt idx="4">
                  <c:v>0.6</c:v>
                </c:pt>
                <c:pt idx="5">
                  <c:v>0.65</c:v>
                </c:pt>
                <c:pt idx="6">
                  <c:v>0.71</c:v>
                </c:pt>
                <c:pt idx="7">
                  <c:v>0.78</c:v>
                </c:pt>
                <c:pt idx="8">
                  <c:v>0.86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压力传感器（归一化）</c:f>
              <c:strCache>
                <c:ptCount val="1"/>
                <c:pt idx="0">
                  <c:v>压力传感器（归一化）</c:v>
                </c:pt>
              </c:strCache>
            </c:strRef>
          </c:tx>
          <c:spPr>
            <a:ln w="25400" cap="rnd" cmpd="sng" algn="ctr">
              <a:solidFill>
                <a:srgbClr val="0064BC"/>
              </a:solidFill>
              <a:prstDash val="dash"/>
              <a:round/>
            </a:ln>
          </c:spPr>
          <c:marker>
            <c:symbol val="diamond"/>
            <c:size val="4"/>
            <c:spPr>
              <a:solidFill>
                <a:srgbClr val="0064BC"/>
              </a:solidFill>
              <a:ln w="25400" cap="flat" cmpd="sng" algn="ctr">
                <a:solidFill>
                  <a:srgbClr val="0064BC"/>
                </a:solidFill>
                <a:prstDash val="dash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tx1"/>
                    </a:solidFill>
                    <a:latin typeface="Quattrocento Sans" panose="020B0502050000020003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{"0","25","50","75","100","125","150","175","192"}</c:f>
              <c:strCache>
                <c:ptCount val="9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  <c:pt idx="7">
                  <c:v>175</c:v>
                </c:pt>
                <c:pt idx="8">
                  <c:v>192</c:v>
                </c:pt>
              </c:strCache>
            </c:strRef>
          </c:cat>
          <c:val>
            <c:numRef>
              <c:f>{0.52,0.51,0.5,0.48,0.45,0.42,0.38,0.33,0.28}</c:f>
              <c:numCache>
                <c:formatCode>General</c:formatCode>
                <c:ptCount val="9"/>
                <c:pt idx="0">
                  <c:v>0.52</c:v>
                </c:pt>
                <c:pt idx="1">
                  <c:v>0.51</c:v>
                </c:pt>
                <c:pt idx="2">
                  <c:v>0.5</c:v>
                </c:pt>
                <c:pt idx="3">
                  <c:v>0.48</c:v>
                </c:pt>
                <c:pt idx="4">
                  <c:v>0.45</c:v>
                </c:pt>
                <c:pt idx="5">
                  <c:v>0.42</c:v>
                </c:pt>
                <c:pt idx="6">
                  <c:v>0.38</c:v>
                </c:pt>
                <c:pt idx="7">
                  <c:v>0.33</c:v>
                </c:pt>
                <c:pt idx="8">
                  <c:v>0.28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tx1"/>
                    </a:solidFill>
                    <a:latin typeface="Quattrocento Sans" panose="020B0502050000020003"/>
                    <a:ea typeface="+mn-ea"/>
                    <a:cs typeface="+mn-cs"/>
                  </a:defRPr>
                </a:pPr>
                <a:r>
                  <a:rPr lang="en-US" sz="1200" noProof="1"/>
                  <a:t>循环数</a:t>
                </a:r>
                <a:endParaRPr lang="en-US" sz="1200" noProof="1"/>
              </a:p>
            </c:rich>
          </c:tx>
          <c:layout>
            <c:manualLayout>
              <c:xMode val="edge"/>
              <c:yMode val="edge"/>
              <c:x val="0.48"/>
              <c:y val="0.82"/>
            </c:manualLayout>
          </c:layout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 noProof="1">
                <a:solidFill>
                  <a:schemeClr val="tx1"/>
                </a:solidFill>
                <a:latin typeface="Quattrocento Sans" panose="020B0502050000020003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0.95"/>
          <c:min val="0.2"/>
        </c:scaling>
        <c:delete val="0"/>
        <c:axPos val="l"/>
        <c:majorGridlines>
          <c:spPr>
            <a:ln w="6350" cap="flat" cmpd="sng" algn="ctr">
              <a:solidFill>
                <a:srgbClr val="D5D6D9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chemeClr val="tx1"/>
                    </a:solidFill>
                    <a:latin typeface="Quattrocento Sans" panose="020B0502050000020003"/>
                    <a:ea typeface="+mn-ea"/>
                    <a:cs typeface="+mn-cs"/>
                  </a:defRPr>
                </a:pPr>
                <a:r>
                  <a:rPr lang="en-US" sz="1200" noProof="1"/>
                  <a:t>归一化读数</a:t>
                </a:r>
                <a:endParaRPr lang="en-US" sz="1200" noProof="1"/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0.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 noProof="1">
                <a:solidFill>
                  <a:schemeClr val="tx1"/>
                </a:solidFill>
                <a:latin typeface="Quattrocento Sans" panose="020B0502050000020003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 noProof="1">
              <a:solidFill>
                <a:schemeClr val="tx1"/>
              </a:solidFill>
              <a:latin typeface="Quattrocento Sans" panose="020B0502050000020003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5bf53da-517c-41b7-bdfe-32d3c9226d5d}"/>
      </c:ext>
    </c:extLst>
  </c:chart>
  <c:spPr>
    <a:noFill/>
    <a:ln>
      <a:noFill/>
    </a:ln>
  </c:spPr>
  <c:txPr>
    <a:bodyPr/>
    <a:lstStyle/>
    <a:p>
      <a:pPr>
        <a:defRPr lang="zh-CN" b="0" i="0" u="none" strike="noStrike" noProof="1">
          <a:latin typeface="Quattrocento Sans" panose="020B0502050000020003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随机森林</c:f>
              <c:strCache>
                <c:ptCount val="1"/>
                <c:pt idx="0">
                  <c:v>随机森林</c:v>
                </c:pt>
              </c:strCache>
            </c:strRef>
          </c:tx>
          <c:spPr>
            <a:solidFill>
              <a:srgbClr val="00ACEE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 noProof="1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{"MAE","RMSE"}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{11.84,15.5}</c:f>
              <c:numCache>
                <c:formatCode>General</c:formatCode>
                <c:ptCount val="2"/>
                <c:pt idx="0">
                  <c:v>11.84</c:v>
                </c:pt>
                <c:pt idx="1">
                  <c:v>15.5</c:v>
                </c:pt>
              </c:numCache>
            </c:numRef>
          </c:val>
        </c:ser>
        <c:ser>
          <c:idx val="1"/>
          <c:order val="1"/>
          <c:tx>
            <c:strRef>
              <c:f>LSTM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0064BC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 noProof="1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{"MAE","RMSE"}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{11.91,16.18}</c:f>
              <c:numCache>
                <c:formatCode>General</c:formatCode>
                <c:ptCount val="2"/>
                <c:pt idx="0">
                  <c:v>11.91</c:v>
                </c:pt>
                <c:pt idx="1">
                  <c:v>16.18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 noProof="1">
                <a:solidFill>
                  <a:schemeClr val="tx1"/>
                </a:solidFill>
                <a:latin typeface="Quattrocento Sans" panose="020B0502050000020003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0"/>
          <c:min val="0"/>
        </c:scaling>
        <c:delete val="0"/>
        <c:axPos val="l"/>
        <c:majorGridlines>
          <c:spPr>
            <a:ln w="6350" cap="flat" cmpd="sng" algn="ctr">
              <a:solidFill>
                <a:srgbClr val="D5D6D9"/>
              </a:solidFill>
              <a:prstDash val="dash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 noProof="1">
                <a:solidFill>
                  <a:schemeClr val="tx1"/>
                </a:solidFill>
                <a:latin typeface="Quattrocento Sans" panose="020B0502050000020003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 noProof="1">
              <a:solidFill>
                <a:schemeClr val="tx1"/>
              </a:solidFill>
              <a:latin typeface="Quattrocento Sans" panose="020B0502050000020003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eeab493-a846-4bd2-8f3e-70aa232f4e7e}"/>
      </c:ext>
    </c:extLst>
  </c:chart>
  <c:spPr>
    <a:noFill/>
    <a:ln>
      <a:noFill/>
    </a:ln>
  </c:spPr>
  <c:txPr>
    <a:bodyPr/>
    <a:lstStyle/>
    <a:p>
      <a:pPr>
        <a:defRPr lang="zh-CN" b="0" i="0" u="none" strike="noStrike" noProof="1">
          <a:latin typeface="Quattrocento Sans" panose="020B0502050000020003"/>
        </a:defRPr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1"/>
          <a:srcRect l="27942" r="27942"/>
          <a:stretch>
            <a:fillRect/>
          </a:stretch>
        </p:blipFill>
        <p:spPr>
          <a:xfrm>
            <a:off x="5740400" y="0"/>
            <a:ext cx="3403600" cy="5143500"/>
          </a:xfrm>
          <a:prstGeom prst="rect">
            <a:avLst/>
          </a:prstGeom>
          <a:ln>
            <a:noFill/>
          </a:ln>
        </p:spPr>
      </p:pic>
      <p:sp>
        <p:nvSpPr>
          <p:cNvPr id="3" name="photo-mask"/>
          <p:cNvSpPr/>
          <p:nvPr/>
        </p:nvSpPr>
        <p:spPr>
          <a:xfrm>
            <a:off x="5334000" y="0"/>
            <a:ext cx="508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eyebrow"/>
          <p:cNvSpPr txBox="1"/>
          <p:nvPr/>
        </p:nvSpPr>
        <p:spPr>
          <a:xfrm>
            <a:off x="711200" y="990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《制造智能技术》课程设计答辩 · 2026</a:t>
            </a:r>
            <a:endParaRPr lang="en-US" sz="900" noProof="1"/>
          </a:p>
        </p:txBody>
      </p:sp>
      <p:sp>
        <p:nvSpPr>
          <p:cNvPr id="5" name="title"/>
          <p:cNvSpPr txBox="1"/>
          <p:nvPr/>
        </p:nvSpPr>
        <p:spPr>
          <a:xfrm>
            <a:off x="711200" y="1320800"/>
            <a:ext cx="4826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30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工业设备智能运维</a:t>
            </a:r>
            <a:endParaRPr lang="en-US" sz="3000" noProof="1"/>
          </a:p>
          <a:p>
            <a:pPr algn="l">
              <a:lnSpc>
                <a:spcPct val="135000"/>
              </a:lnSpc>
            </a:pPr>
            <a:r>
              <a:rPr lang="en-US" sz="30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与预测性维护平台</a:t>
            </a:r>
            <a:endParaRPr lang="en-US" sz="3000" noProof="1"/>
          </a:p>
        </p:txBody>
      </p:sp>
      <p:sp>
        <p:nvSpPr>
          <p:cNvPr id="6" name="rule"/>
          <p:cNvSpPr/>
          <p:nvPr/>
        </p:nvSpPr>
        <p:spPr>
          <a:xfrm>
            <a:off x="711200" y="2692400"/>
            <a:ext cx="914400" cy="25400"/>
          </a:xfrm>
          <a:custGeom>
            <a:avLst/>
            <a:gdLst/>
            <a:ahLst/>
            <a:cxnLst/>
            <a:rect l="l" t="t" r="r" b="b"/>
            <a:pathLst>
              <a:path w="72" h="2">
                <a:moveTo>
                  <a:pt x="0" y="1"/>
                </a:moveTo>
                <a:lnTo>
                  <a:pt x="72" y="1"/>
                </a:lnTo>
              </a:path>
            </a:pathLst>
          </a:custGeom>
          <a:noFill/>
          <a:ln w="25400" cap="rnd">
            <a:solidFill>
              <a:srgbClr val="00ACEE"/>
            </a:solidFill>
            <a:round/>
          </a:ln>
        </p:spPr>
      </p:sp>
      <p:sp>
        <p:nvSpPr>
          <p:cNvPr id="7" name="subtitle"/>
          <p:cNvSpPr txBox="1"/>
          <p:nvPr/>
        </p:nvSpPr>
        <p:spPr>
          <a:xfrm>
            <a:off x="711200" y="2895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从传感器监测到维修工单的全流程闭环</a:t>
            </a:r>
            <a:endParaRPr lang="en-US" sz="1100" noProof="1"/>
          </a:p>
        </p:txBody>
      </p:sp>
      <p:sp>
        <p:nvSpPr>
          <p:cNvPr id="8" name="info"/>
          <p:cNvSpPr txBox="1"/>
          <p:nvPr/>
        </p:nvSpPr>
        <p:spPr>
          <a:xfrm>
            <a:off x="711200" y="3632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班级：</a:t>
            </a:r>
            <a:r>
              <a:rPr lang="zh-CN" alt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智造</a:t>
            </a:r>
            <a:r>
              <a:rPr lang="en-US" altLang="zh-CN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24-1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学号：202412020122</a:t>
            </a:r>
            <a:endParaRPr lang="en-US" sz="950" noProof="1"/>
          </a:p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姓名：</a:t>
            </a:r>
            <a:r>
              <a:rPr lang="zh-CN" alt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王煜淇</a:t>
            </a:r>
            <a:endParaRPr lang="zh-CN" altLang="en-US" sz="950" noProof="1">
              <a:solidFill>
                <a:srgbClr val="000000"/>
              </a:solidFill>
              <a:latin typeface="Quattrocento Sans" panose="020B0502050000020003"/>
              <a:ea typeface="LXGW Bright" charset="-122"/>
            </a:endParaRPr>
          </a:p>
        </p:txBody>
      </p:sp>
      <p:sp>
        <p:nvSpPr>
          <p:cNvPr id="9" name="tags"/>
          <p:cNvSpPr txBox="1"/>
          <p:nvPr/>
        </p:nvSpPr>
        <p:spPr>
          <a:xfrm>
            <a:off x="711200" y="4470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NASA C-MAPSS 数据集 · B/S 架构 · 全流程闭环</a:t>
            </a:r>
            <a:endParaRPr lang="en-US" sz="800" noProof="1"/>
          </a:p>
        </p:txBody>
      </p:sp>
      <p:sp>
        <p:nvSpPr>
          <p:cNvPr id="10" name="pagenum"/>
          <p:cNvSpPr txBox="1"/>
          <p:nvPr/>
        </p:nvSpPr>
        <p:spPr>
          <a:xfrm>
            <a:off x="5334000" y="4876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01 / 10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01 问题定位 | PROBLEM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运维关注三个问题，系统将其串成一条业务闭环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三个核心问题对应系统的三类能力；下方流程为平台实际功能链路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q1-num"/>
          <p:cNvSpPr/>
          <p:nvPr/>
        </p:nvSpPr>
        <p:spPr>
          <a:xfrm>
            <a:off x="609600" y="1371600"/>
            <a:ext cx="228600" cy="228600"/>
          </a:xfrm>
          <a:prstGeom prst="ellipse">
            <a:avLst/>
          </a:prstGeom>
          <a:solidFill>
            <a:srgbClr val="F17E00"/>
          </a:solidFill>
          <a:ln>
            <a:noFill/>
          </a:ln>
        </p:spPr>
      </p:sp>
      <p:sp>
        <p:nvSpPr>
          <p:cNvPr id="7" name="q1-numtext"/>
          <p:cNvSpPr txBox="1"/>
          <p:nvPr/>
        </p:nvSpPr>
        <p:spPr>
          <a:xfrm>
            <a:off x="609600" y="1371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1</a:t>
            </a:r>
            <a:endParaRPr lang="en-US" sz="1000" noProof="1"/>
          </a:p>
        </p:txBody>
      </p:sp>
      <p:sp>
        <p:nvSpPr>
          <p:cNvPr id="8" name="q1"/>
          <p:cNvSpPr txBox="1"/>
          <p:nvPr/>
        </p:nvSpPr>
        <p:spPr>
          <a:xfrm>
            <a:off x="939800" y="1295400"/>
            <a:ext cx="2108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设备状态怎么样？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实时监测 + 健康度评分</a:t>
            </a:r>
            <a:endParaRPr lang="en-US" sz="1600" noProof="1"/>
          </a:p>
        </p:txBody>
      </p:sp>
      <p:sp>
        <p:nvSpPr>
          <p:cNvPr id="9" name="q2-num"/>
          <p:cNvSpPr/>
          <p:nvPr/>
        </p:nvSpPr>
        <p:spPr>
          <a:xfrm>
            <a:off x="3403600" y="1371600"/>
            <a:ext cx="228600" cy="228600"/>
          </a:xfrm>
          <a:prstGeom prst="ellipse">
            <a:avLst/>
          </a:prstGeom>
          <a:solidFill>
            <a:srgbClr val="F17E00"/>
          </a:solidFill>
          <a:ln>
            <a:noFill/>
          </a:ln>
        </p:spPr>
      </p:sp>
      <p:sp>
        <p:nvSpPr>
          <p:cNvPr id="10" name="q2-numtext"/>
          <p:cNvSpPr txBox="1"/>
          <p:nvPr/>
        </p:nvSpPr>
        <p:spPr>
          <a:xfrm>
            <a:off x="3403600" y="1371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2</a:t>
            </a:r>
            <a:endParaRPr lang="en-US" sz="1000" noProof="1"/>
          </a:p>
        </p:txBody>
      </p:sp>
      <p:sp>
        <p:nvSpPr>
          <p:cNvPr id="11" name="q2"/>
          <p:cNvSpPr txBox="1"/>
          <p:nvPr/>
        </p:nvSpPr>
        <p:spPr>
          <a:xfrm>
            <a:off x="3733800" y="1295400"/>
            <a:ext cx="2108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还能用多久？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剩余寿命 RUL 预测</a:t>
            </a:r>
            <a:endParaRPr lang="en-US" sz="1600" noProof="1"/>
          </a:p>
        </p:txBody>
      </p:sp>
      <p:sp>
        <p:nvSpPr>
          <p:cNvPr id="12" name="q3-num"/>
          <p:cNvSpPr/>
          <p:nvPr/>
        </p:nvSpPr>
        <p:spPr>
          <a:xfrm>
            <a:off x="6197600" y="1371600"/>
            <a:ext cx="228600" cy="228600"/>
          </a:xfrm>
          <a:prstGeom prst="ellipse">
            <a:avLst/>
          </a:prstGeom>
          <a:solidFill>
            <a:srgbClr val="F17E00"/>
          </a:solidFill>
          <a:ln>
            <a:noFill/>
          </a:ln>
        </p:spPr>
      </p:sp>
      <p:sp>
        <p:nvSpPr>
          <p:cNvPr id="13" name="q3-numtext"/>
          <p:cNvSpPr txBox="1"/>
          <p:nvPr/>
        </p:nvSpPr>
        <p:spPr>
          <a:xfrm>
            <a:off x="6197600" y="1371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3</a:t>
            </a:r>
            <a:endParaRPr lang="en-US" sz="1000" noProof="1"/>
          </a:p>
        </p:txBody>
      </p:sp>
      <p:sp>
        <p:nvSpPr>
          <p:cNvPr id="14" name="q3"/>
          <p:cNvSpPr txBox="1"/>
          <p:nvPr/>
        </p:nvSpPr>
        <p:spPr>
          <a:xfrm>
            <a:off x="6527800" y="1295400"/>
            <a:ext cx="2006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出了问题修哪里？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规则引擎故障定位</a:t>
            </a:r>
            <a:endParaRPr lang="en-US" sz="1600" noProof="1"/>
          </a:p>
        </p:txBody>
      </p:sp>
      <p:sp>
        <p:nvSpPr>
          <p:cNvPr id="15" name="mid-rule"/>
          <p:cNvSpPr/>
          <p:nvPr/>
        </p:nvSpPr>
        <p:spPr>
          <a:xfrm>
            <a:off x="609600" y="22606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16" name="flow-axis"/>
          <p:cNvSpPr/>
          <p:nvPr/>
        </p:nvSpPr>
        <p:spPr>
          <a:xfrm>
            <a:off x="990600" y="2870200"/>
            <a:ext cx="7162800" cy="25400"/>
          </a:xfrm>
          <a:custGeom>
            <a:avLst/>
            <a:gdLst/>
            <a:ahLst/>
            <a:cxnLst/>
            <a:rect l="l" t="t" r="r" b="b"/>
            <a:pathLst>
              <a:path w="564" h="2">
                <a:moveTo>
                  <a:pt x="0" y="1"/>
                </a:moveTo>
                <a:lnTo>
                  <a:pt x="564" y="1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17" name="n1-dot"/>
          <p:cNvSpPr/>
          <p:nvPr/>
        </p:nvSpPr>
        <p:spPr>
          <a:xfrm>
            <a:off x="1066800" y="2806700"/>
            <a:ext cx="152400" cy="152400"/>
          </a:xfrm>
          <a:prstGeom prst="ellipse">
            <a:avLst/>
          </a:prstGeom>
          <a:solidFill>
            <a:srgbClr val="00ACEE"/>
          </a:solidFill>
          <a:ln>
            <a:noFill/>
          </a:ln>
        </p:spPr>
      </p:sp>
      <p:sp>
        <p:nvSpPr>
          <p:cNvPr id="18" name="n1-label"/>
          <p:cNvSpPr txBox="1"/>
          <p:nvPr/>
        </p:nvSpPr>
        <p:spPr>
          <a:xfrm>
            <a:off x="609600" y="30988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数据监测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传感器趋势曲线</a:t>
            </a:r>
            <a:endParaRPr lang="en-US" sz="1600" noProof="1"/>
          </a:p>
        </p:txBody>
      </p:sp>
      <p:sp>
        <p:nvSpPr>
          <p:cNvPr id="19" name="n2-dot"/>
          <p:cNvSpPr/>
          <p:nvPr/>
        </p:nvSpPr>
        <p:spPr>
          <a:xfrm>
            <a:off x="2667000" y="2806700"/>
            <a:ext cx="152400" cy="152400"/>
          </a:xfrm>
          <a:prstGeom prst="ellipse">
            <a:avLst/>
          </a:prstGeom>
          <a:solidFill>
            <a:srgbClr val="00ACEE"/>
          </a:solidFill>
          <a:ln>
            <a:noFill/>
          </a:ln>
        </p:spPr>
      </p:sp>
      <p:sp>
        <p:nvSpPr>
          <p:cNvPr id="20" name="n2-label"/>
          <p:cNvSpPr txBox="1"/>
          <p:nvPr/>
        </p:nvSpPr>
        <p:spPr>
          <a:xfrm>
            <a:off x="2209800" y="30988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健康评估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RUL 驱动评分</a:t>
            </a:r>
            <a:endParaRPr lang="en-US" sz="1600" noProof="1"/>
          </a:p>
        </p:txBody>
      </p:sp>
      <p:sp>
        <p:nvSpPr>
          <p:cNvPr id="21" name="n3-dot"/>
          <p:cNvSpPr/>
          <p:nvPr/>
        </p:nvSpPr>
        <p:spPr>
          <a:xfrm>
            <a:off x="4267200" y="2806700"/>
            <a:ext cx="152400" cy="152400"/>
          </a:xfrm>
          <a:prstGeom prst="ellipse">
            <a:avLst/>
          </a:prstGeom>
          <a:solidFill>
            <a:srgbClr val="00ACEE"/>
          </a:solidFill>
          <a:ln>
            <a:noFill/>
          </a:ln>
        </p:spPr>
      </p:sp>
      <p:sp>
        <p:nvSpPr>
          <p:cNvPr id="22" name="n3-label"/>
          <p:cNvSpPr txBox="1"/>
          <p:nvPr/>
        </p:nvSpPr>
        <p:spPr>
          <a:xfrm>
            <a:off x="3810000" y="30988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异常预警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孤立森林 + 三级预警</a:t>
            </a:r>
            <a:endParaRPr lang="en-US" sz="1600" noProof="1"/>
          </a:p>
        </p:txBody>
      </p:sp>
      <p:sp>
        <p:nvSpPr>
          <p:cNvPr id="23" name="n4-dot"/>
          <p:cNvSpPr/>
          <p:nvPr/>
        </p:nvSpPr>
        <p:spPr>
          <a:xfrm>
            <a:off x="5867400" y="2806700"/>
            <a:ext cx="152400" cy="152400"/>
          </a:xfrm>
          <a:prstGeom prst="ellipse">
            <a:avLst/>
          </a:prstGeom>
          <a:solidFill>
            <a:srgbClr val="00ACEE"/>
          </a:solidFill>
          <a:ln>
            <a:noFill/>
          </a:ln>
        </p:spPr>
      </p:sp>
      <p:sp>
        <p:nvSpPr>
          <p:cNvPr id="24" name="n4-label"/>
          <p:cNvSpPr txBox="1"/>
          <p:nvPr/>
        </p:nvSpPr>
        <p:spPr>
          <a:xfrm>
            <a:off x="5410200" y="30988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智能诊断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规则引擎定位故障</a:t>
            </a:r>
            <a:endParaRPr lang="en-US" sz="1600" noProof="1"/>
          </a:p>
        </p:txBody>
      </p:sp>
      <p:sp>
        <p:nvSpPr>
          <p:cNvPr id="25" name="n5-dot"/>
          <p:cNvSpPr/>
          <p:nvPr/>
        </p:nvSpPr>
        <p:spPr>
          <a:xfrm>
            <a:off x="7467600" y="2806700"/>
            <a:ext cx="152400" cy="152400"/>
          </a:xfrm>
          <a:prstGeom prst="ellipse">
            <a:avLst/>
          </a:prstGeom>
          <a:solidFill>
            <a:srgbClr val="0064BC"/>
          </a:solidFill>
          <a:ln>
            <a:noFill/>
          </a:ln>
        </p:spPr>
      </p:sp>
      <p:sp>
        <p:nvSpPr>
          <p:cNvPr id="26" name="n5-label"/>
          <p:cNvSpPr txBox="1"/>
          <p:nvPr/>
        </p:nvSpPr>
        <p:spPr>
          <a:xfrm>
            <a:off x="7010400" y="3098800"/>
            <a:ext cx="127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维修工单</a:t>
            </a:r>
            <a:endParaRPr lang="en-US" sz="1600" noProof="1"/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一键生成 · 状态流转</a:t>
            </a:r>
            <a:endParaRPr lang="en-US" sz="1600" noProof="1"/>
          </a:p>
        </p:txBody>
      </p:sp>
      <p:sp>
        <p:nvSpPr>
          <p:cNvPr id="27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28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不是只做算法：系统覆盖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从数据到工单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的完整业务闭环，五个环节均可在系统中实际演示。</a:t>
            </a:r>
            <a:endParaRPr lang="en-US" sz="950" noProof="1"/>
          </a:p>
        </p:txBody>
      </p:sp>
      <p:sp>
        <p:nvSpPr>
          <p:cNvPr id="29" name="footnote"/>
          <p:cNvSpPr txBox="1"/>
          <p:nvPr/>
        </p:nvSpPr>
        <p:spPr>
          <a:xfrm>
            <a:off x="609600" y="4927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闭环链路为系统已实现功能，非概念示意</a:t>
            </a:r>
            <a:endParaRPr lang="en-US" sz="800" noProof="1"/>
          </a:p>
        </p:txBody>
      </p:sp>
      <p:sp>
        <p:nvSpPr>
          <p:cNvPr id="30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02 / 10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02 方案架构 | ARCHITECTURE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B/S 三层架构，四大技术方向全部落地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左侧为系统分层与技术栈，右侧为课程四大技术方向在系统中的对应模块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layer1"/>
          <p:cNvSpPr/>
          <p:nvPr/>
        </p:nvSpPr>
        <p:spPr>
          <a:xfrm>
            <a:off x="609600" y="1270000"/>
            <a:ext cx="3759200" cy="660400"/>
          </a:xfrm>
          <a:prstGeom prst="rect">
            <a:avLst/>
          </a:prstGeom>
          <a:solidFill>
            <a:srgbClr val="BEE0FF"/>
          </a:solidFill>
          <a:ln w="9525">
            <a:solidFill>
              <a:srgbClr val="0064BC"/>
            </a:solidFill>
          </a:ln>
        </p:spPr>
      </p:sp>
      <p:sp>
        <p:nvSpPr>
          <p:cNvPr id="7" name="layer1-text"/>
          <p:cNvSpPr txBox="1"/>
          <p:nvPr/>
        </p:nvSpPr>
        <p:spPr>
          <a:xfrm>
            <a:off x="762000" y="1270000"/>
            <a:ext cx="3454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表现层　Vue 3 + Element Plus + ECharts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7 个功能页面：总览 / 台账 / 监测 / 评估 / 预警 / 诊断 / 工单</a:t>
            </a:r>
            <a:endParaRPr lang="en-US" sz="1600" noProof="1"/>
          </a:p>
        </p:txBody>
      </p:sp>
      <p:sp>
        <p:nvSpPr>
          <p:cNvPr id="8" name="arrow1"/>
          <p:cNvSpPr/>
          <p:nvPr/>
        </p:nvSpPr>
        <p:spPr>
          <a:xfrm>
            <a:off x="2438400" y="1930400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" h="10">
                <a:moveTo>
                  <a:pt x="1" y="0"/>
                </a:moveTo>
                <a:lnTo>
                  <a:pt x="1" y="1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9" name="layer2"/>
          <p:cNvSpPr/>
          <p:nvPr/>
        </p:nvSpPr>
        <p:spPr>
          <a:xfrm>
            <a:off x="609600" y="2057400"/>
            <a:ext cx="3759200" cy="660400"/>
          </a:xfrm>
          <a:prstGeom prst="rect">
            <a:avLst/>
          </a:prstGeom>
          <a:solidFill>
            <a:srgbClr val="00ACEE"/>
          </a:solidFill>
          <a:ln>
            <a:noFill/>
          </a:ln>
        </p:spPr>
      </p:sp>
      <p:sp>
        <p:nvSpPr>
          <p:cNvPr id="10" name="layer2-text"/>
          <p:cNvSpPr txBox="1"/>
          <p:nvPr/>
        </p:nvSpPr>
        <p:spPr>
          <a:xfrm>
            <a:off x="762000" y="2057400"/>
            <a:ext cx="3454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业务层　FastAPI + Python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RESTful API；与算法同语言，模型直接加载推理</a:t>
            </a:r>
            <a:endParaRPr lang="en-US" sz="1600" noProof="1"/>
          </a:p>
        </p:txBody>
      </p:sp>
      <p:sp>
        <p:nvSpPr>
          <p:cNvPr id="11" name="arrow2"/>
          <p:cNvSpPr/>
          <p:nvPr/>
        </p:nvSpPr>
        <p:spPr>
          <a:xfrm>
            <a:off x="2438400" y="2717800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" h="10">
                <a:moveTo>
                  <a:pt x="1" y="0"/>
                </a:moveTo>
                <a:lnTo>
                  <a:pt x="1" y="1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12" name="layer3"/>
          <p:cNvSpPr/>
          <p:nvPr/>
        </p:nvSpPr>
        <p:spPr>
          <a:xfrm>
            <a:off x="609600" y="2844800"/>
            <a:ext cx="3759200" cy="660400"/>
          </a:xfrm>
          <a:prstGeom prst="rect">
            <a:avLst/>
          </a:prstGeom>
          <a:solidFill>
            <a:srgbClr val="00295F"/>
          </a:solidFill>
          <a:ln>
            <a:noFill/>
          </a:ln>
        </p:spPr>
      </p:sp>
      <p:sp>
        <p:nvSpPr>
          <p:cNvPr id="13" name="layer3-text"/>
          <p:cNvSpPr txBox="1"/>
          <p:nvPr/>
        </p:nvSpPr>
        <p:spPr>
          <a:xfrm>
            <a:off x="762000" y="2844800"/>
            <a:ext cx="3454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050" b="1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数据层　SQLite（5 张表）+ 离线模型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FFFFFF"/>
                </a:solidFill>
                <a:latin typeface="Quattrocento Sans" panose="020B0502050000020003"/>
                <a:ea typeface="LXGW Bright" charset="-122"/>
              </a:rPr>
              <a:t>.pkl / .pt 模型文件，离线训练、在线推理零等待</a:t>
            </a:r>
            <a:endParaRPr lang="en-US" sz="1600" noProof="1"/>
          </a:p>
        </p:txBody>
      </p:sp>
      <p:sp>
        <p:nvSpPr>
          <p:cNvPr id="14" name="reason"/>
          <p:cNvSpPr txBox="1"/>
          <p:nvPr/>
        </p:nvSpPr>
        <p:spPr>
          <a:xfrm>
            <a:off x="609600" y="3657600"/>
            <a:ext cx="375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选型理由</a:t>
            </a:r>
            <a:endParaRPr lang="en-US" sz="8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· SQLite 免部署，答辩现场拷贝即运行</a:t>
            </a:r>
            <a:endParaRPr lang="en-US" sz="850" noProof="1"/>
          </a:p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· 一台个人电脑即可完整运行全系统</a:t>
            </a:r>
            <a:endParaRPr lang="en-US" sz="850" noProof="1"/>
          </a:p>
        </p:txBody>
      </p:sp>
      <p:graphicFrame>
        <p:nvGraphicFramePr>
          <p:cNvPr id="15" name="tech-table"/>
          <p:cNvGraphicFramePr>
            <a:graphicFrameLocks noGrp="1"/>
          </p:cNvGraphicFramePr>
          <p:nvPr/>
        </p:nvGraphicFramePr>
        <p:xfrm>
          <a:off x="4724400" y="1270000"/>
          <a:ext cx="3810000" cy="2794000"/>
        </p:xfrm>
        <a:graphic>
          <a:graphicData uri="http://schemas.openxmlformats.org/drawingml/2006/table">
            <a:tbl>
              <a:tblPr/>
              <a:tblGrid>
                <a:gridCol w="1066800"/>
                <a:gridCol w="1295400"/>
                <a:gridCol w="1447800"/>
              </a:tblGrid>
              <a:tr h="39116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课程方向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solidFill>
                      <a:srgbClr val="00295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具体方法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系统作用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noFill/>
                  </a:tcPr>
                </a:tc>
              </a:tr>
              <a:tr h="6007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Quattrocento Sans" panose="020B0502050000020003"/>
                          <a:ea typeface="LXGW Bright" charset="-122"/>
                        </a:rPr>
                        <a:t>机器学习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0064B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随机森林回归（100 棵树）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RUL 预测</a:t>
                      </a:r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，驱动健康评估与预警分级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  <a:tr h="6007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Quattrocento Sans" panose="020B0502050000020003"/>
                          <a:ea typeface="LXGW Bright" charset="-122"/>
                        </a:rPr>
                        <a:t>深度学习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0064B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LSTM 时序网络（2 层）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退化趋势建模，与随机森林</a:t>
                      </a:r>
                      <a:r>
                        <a:rPr lang="zh-CN" altLang="en-US" sz="850" b="1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时序</a:t>
                      </a:r>
                      <a:r>
                        <a:rPr lang="en-US" sz="850" b="1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对比</a:t>
                      </a:r>
                      <a:endParaRPr lang="en-US" sz="850" b="1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  <a:tr h="6007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Quattrocento Sans" panose="020B0502050000020003"/>
                          <a:ea typeface="LXGW Bright" charset="-122"/>
                        </a:rPr>
                        <a:t>专家系统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0064B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 规则引擎（15 条）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zh-CN" altLang="en-US" sz="850" b="1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故障诊断</a:t>
                      </a:r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→ 故障定位与排查建议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  <a:tr h="60071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Quattrocento Sans" panose="020B0502050000020003"/>
                          <a:ea typeface="LXGW Bright" charset="-122"/>
                        </a:rPr>
                        <a:t>数据挖掘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0064B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Isolation Forest 孤立森林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监测数据</a:t>
                      </a:r>
                      <a:r>
                        <a:rPr lang="en-US" sz="850" b="1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异常检测</a:t>
                      </a:r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，自动生成预警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17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四个方向串联成闭环：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异常检测发现问题 → RUL 评估严重度 → 规则引擎给处置建议 → 工单闭环执行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。</a:t>
            </a:r>
            <a:endParaRPr lang="en-US" sz="950" noProof="1"/>
          </a:p>
        </p:txBody>
      </p:sp>
      <p:sp>
        <p:nvSpPr>
          <p:cNvPr id="18" name="footnote"/>
          <p:cNvSpPr txBox="1"/>
          <p:nvPr/>
        </p:nvSpPr>
        <p:spPr>
          <a:xfrm>
            <a:off x="609600" y="4927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技术栈：Vue 3 / FastAPI / SQLite / scikit-learn / PyTorch；模型离线训练、在线推理</a:t>
            </a:r>
            <a:endParaRPr lang="en-US" sz="800" noProof="1"/>
          </a:p>
        </p:txBody>
      </p:sp>
      <p:sp>
        <p:nvSpPr>
          <p:cNvPr id="19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03 / 10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03 数据与算法 | DATA &amp; MODELS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C-MAPSS FD001：100 台全寿命 + 100 台在役截断，趋势可预测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左为数据规模，右为归一化传感器退化趋势示意（温度上升、压力下降）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kpi1-num"/>
          <p:cNvSpPr txBox="1"/>
          <p:nvPr/>
        </p:nvSpPr>
        <p:spPr>
          <a:xfrm>
            <a:off x="609600" y="13208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100</a:t>
            </a:r>
            <a:r>
              <a:rPr lang="en-US" sz="1100" b="1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 台 · 训练集</a:t>
            </a:r>
            <a:endParaRPr lang="en-US" sz="2600" noProof="1"/>
          </a:p>
        </p:txBody>
      </p:sp>
      <p:sp>
        <p:nvSpPr>
          <p:cNvPr id="7" name="kpi1-desc"/>
          <p:cNvSpPr txBox="1"/>
          <p:nvPr/>
        </p:nvSpPr>
        <p:spPr>
          <a:xfrm>
            <a:off x="609600" y="1778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完整寿命周期，20,631 行记录</a:t>
            </a:r>
            <a:endParaRPr lang="en-US" sz="850" noProof="1"/>
          </a:p>
        </p:txBody>
      </p:sp>
      <p:sp>
        <p:nvSpPr>
          <p:cNvPr id="8" name="kpi-rule1"/>
          <p:cNvSpPr/>
          <p:nvPr/>
        </p:nvSpPr>
        <p:spPr>
          <a:xfrm>
            <a:off x="609600" y="2184400"/>
            <a:ext cx="2540000" cy="12700"/>
          </a:xfrm>
          <a:custGeom>
            <a:avLst/>
            <a:gdLst/>
            <a:ahLst/>
            <a:cxnLst/>
            <a:rect l="l" t="t" r="r" b="b"/>
            <a:pathLst>
              <a:path w="200" h="1">
                <a:moveTo>
                  <a:pt x="0" y="1"/>
                </a:moveTo>
                <a:lnTo>
                  <a:pt x="200" y="1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9" name="kpi2-num"/>
          <p:cNvSpPr txBox="1"/>
          <p:nvPr/>
        </p:nvSpPr>
        <p:spPr>
          <a:xfrm>
            <a:off x="609600" y="23114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13,096</a:t>
            </a:r>
            <a:r>
              <a:rPr lang="en-US" sz="11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 行 · 测试集</a:t>
            </a:r>
            <a:endParaRPr lang="en-US" sz="1600" noProof="1"/>
          </a:p>
        </p:txBody>
      </p:sp>
      <p:sp>
        <p:nvSpPr>
          <p:cNvPr id="10" name="kpi2-desc"/>
          <p:cNvSpPr txBox="1"/>
          <p:nvPr/>
        </p:nvSpPr>
        <p:spPr>
          <a:xfrm>
            <a:off x="609600" y="2768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100 台中途截断，模拟在役设备</a:t>
            </a:r>
            <a:endParaRPr lang="en-US" sz="850" noProof="1"/>
          </a:p>
        </p:txBody>
      </p:sp>
      <p:sp>
        <p:nvSpPr>
          <p:cNvPr id="11" name="kpi-rule2"/>
          <p:cNvSpPr/>
          <p:nvPr/>
        </p:nvSpPr>
        <p:spPr>
          <a:xfrm>
            <a:off x="609600" y="3175000"/>
            <a:ext cx="2540000" cy="12700"/>
          </a:xfrm>
          <a:custGeom>
            <a:avLst/>
            <a:gdLst/>
            <a:ahLst/>
            <a:cxnLst/>
            <a:rect l="l" t="t" r="r" b="b"/>
            <a:pathLst>
              <a:path w="200" h="1">
                <a:moveTo>
                  <a:pt x="0" y="1"/>
                </a:moveTo>
                <a:lnTo>
                  <a:pt x="200" y="1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12" name="kpi3-num"/>
          <p:cNvSpPr txBox="1"/>
          <p:nvPr/>
        </p:nvSpPr>
        <p:spPr>
          <a:xfrm>
            <a:off x="609600" y="3302000"/>
            <a:ext cx="279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26</a:t>
            </a:r>
            <a:r>
              <a:rPr lang="en-US" sz="11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 列 / 行：编号 + 循环 + 3 工况 + 21 传感器</a:t>
            </a:r>
            <a:endParaRPr lang="en-US" sz="1600" noProof="1"/>
          </a:p>
        </p:txBody>
      </p:sp>
      <p:sp>
        <p:nvSpPr>
          <p:cNvPr id="13" name="kpi3-desc"/>
          <p:cNvSpPr txBox="1"/>
          <p:nvPr/>
        </p:nvSpPr>
        <p:spPr>
          <a:xfrm>
            <a:off x="609600" y="37592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预处理：剔除 7 个恒定列 → 构造 RUL 标签→ Min-Max 归一化（仅用 train 拟合）</a:t>
            </a:r>
            <a:endParaRPr lang="en-US" sz="850" noProof="1"/>
          </a:p>
        </p:txBody>
      </p:sp>
      <p:graphicFrame>
        <p:nvGraphicFramePr>
          <p:cNvPr id="14" name="chart"/>
          <p:cNvGraphicFramePr/>
          <p:nvPr/>
        </p:nvGraphicFramePr>
        <p:xfrm>
          <a:off x="4013200" y="1270000"/>
          <a:ext cx="45212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16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温度上升、压力下降的单调退化规律说明寿命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可以被预测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；健康初期信号弱，RUL 标签截断为 125 避免标签失真。</a:t>
            </a:r>
            <a:endParaRPr lang="en-US" sz="950" noProof="1"/>
          </a:p>
        </p:txBody>
      </p:sp>
      <p:sp>
        <p:nvSpPr>
          <p:cNvPr id="17" name="footnote"/>
          <p:cNvSpPr txBox="1"/>
          <p:nvPr/>
        </p:nvSpPr>
        <p:spPr>
          <a:xfrm>
            <a:off x="609600" y="49276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数据来源：NASA C-MAPSS 涡扇发动机退化仿真数据集 FD001 子集；右图为归一化趋势示意</a:t>
            </a:r>
            <a:endParaRPr lang="en-US" sz="800" noProof="1"/>
          </a:p>
        </p:txBody>
      </p:sp>
      <p:sp>
        <p:nvSpPr>
          <p:cNvPr id="18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04 / 10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03 数据与算法 | DATA &amp; MODELS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随机森林与 LSTM 误差几乎打平：小数据场景特征工程更关键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RUL 预测在测试集（100 台截断发动机）上的误差对比，单位：循环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graphicFrame>
        <p:nvGraphicFramePr>
          <p:cNvPr id="6" name="chart"/>
          <p:cNvGraphicFramePr/>
          <p:nvPr/>
        </p:nvGraphicFramePr>
        <p:xfrm>
          <a:off x="609600" y="1270000"/>
          <a:ext cx="41910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ight-rf"/>
          <p:cNvSpPr txBox="1"/>
          <p:nvPr/>
        </p:nvSpPr>
        <p:spPr>
          <a:xfrm>
            <a:off x="5181600" y="1295400"/>
            <a:ext cx="33528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随机森林｜57 维统计特征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近 20 循环窗口 × 14 传感器 × 4 统计量 + 当前循环数；100 棵树、最大深度 12</a:t>
            </a:r>
            <a:endParaRPr lang="en-US" sz="1600" noProof="1"/>
          </a:p>
        </p:txBody>
      </p:sp>
      <p:sp>
        <p:nvSpPr>
          <p:cNvPr id="8" name="r-rule1"/>
          <p:cNvSpPr/>
          <p:nvPr/>
        </p:nvSpPr>
        <p:spPr>
          <a:xfrm>
            <a:off x="5181600" y="2159000"/>
            <a:ext cx="3352800" cy="12700"/>
          </a:xfrm>
          <a:custGeom>
            <a:avLst/>
            <a:gdLst/>
            <a:ahLst/>
            <a:cxnLst/>
            <a:rect l="l" t="t" r="r" b="b"/>
            <a:pathLst>
              <a:path w="264" h="1">
                <a:moveTo>
                  <a:pt x="0" y="1"/>
                </a:moveTo>
                <a:lnTo>
                  <a:pt x="264" y="1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9" name="right-lstm"/>
          <p:cNvSpPr txBox="1"/>
          <p:nvPr/>
        </p:nvSpPr>
        <p:spPr>
          <a:xfrm>
            <a:off x="5181600" y="2286000"/>
            <a:ext cx="33528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LSTM｜30 步原始时序窗口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2 层 LSTM（隐藏维度 64）+ Dropout 0.2 + 全连接层，CPU 训练 30 轮</a:t>
            </a:r>
            <a:endParaRPr lang="en-US" sz="1600" noProof="1"/>
          </a:p>
        </p:txBody>
      </p:sp>
      <p:sp>
        <p:nvSpPr>
          <p:cNvPr id="10" name="r-rule2"/>
          <p:cNvSpPr/>
          <p:nvPr/>
        </p:nvSpPr>
        <p:spPr>
          <a:xfrm>
            <a:off x="5181600" y="3149600"/>
            <a:ext cx="3352800" cy="12700"/>
          </a:xfrm>
          <a:custGeom>
            <a:avLst/>
            <a:gdLst/>
            <a:ahLst/>
            <a:cxnLst/>
            <a:rect l="l" t="t" r="r" b="b"/>
            <a:pathLst>
              <a:path w="264" h="1">
                <a:moveTo>
                  <a:pt x="0" y="1"/>
                </a:moveTo>
                <a:lnTo>
                  <a:pt x="264" y="1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11" name="right-size"/>
          <p:cNvSpPr txBox="1"/>
          <p:nvPr/>
        </p:nvSpPr>
        <p:spPr>
          <a:xfrm>
            <a:off x="5181600" y="3276600"/>
            <a:ext cx="33528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工程优化｜模型体积 </a:t>
            </a:r>
            <a:r>
              <a:rPr lang="en-US" sz="1300" b="1" noProof="1">
                <a:solidFill>
                  <a:srgbClr val="F17E00"/>
                </a:solidFill>
                <a:latin typeface="Quattrocento Sans" panose="020B0502050000020003"/>
                <a:ea typeface="LXGW Bright" charset="-122"/>
              </a:rPr>
              <a:t>90MB → 13MB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限制树深 12 后体积压缩 86%，预测精度几乎不变，解决 GitHub 上传限制</a:t>
            </a:r>
            <a:endParaRPr lang="en-US" sz="1600" noProof="1"/>
          </a:p>
        </p:txBody>
      </p:sp>
      <p:sp>
        <p:nvSpPr>
          <p:cNvPr id="12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13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FD001 为单工况小数据集：随机森林的人工特征工程利用先验更充分，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特征工程质量比模型复杂度更关键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。</a:t>
            </a:r>
            <a:endParaRPr lang="en-US" sz="950" noProof="1"/>
          </a:p>
        </p:txBody>
      </p:sp>
      <p:sp>
        <p:nvSpPr>
          <p:cNvPr id="14" name="footnote"/>
          <p:cNvSpPr txBox="1"/>
          <p:nvPr/>
        </p:nvSpPr>
        <p:spPr>
          <a:xfrm>
            <a:off x="609600" y="49276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评估口径：FD001 测试集（100 台中途截断发动机），MAE / RMSE 单位为循环数</a:t>
            </a:r>
            <a:endParaRPr lang="en-US" sz="800" noProof="1"/>
          </a:p>
        </p:txBody>
      </p:sp>
      <p:sp>
        <p:nvSpPr>
          <p:cNvPr id="15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05 / 10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03 数据与算法 | DATA &amp; MODELS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孤立森林自动发现异常，15</a:t>
            </a:r>
            <a:r>
              <a:rPr lang="zh-CN" alt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条规则</a:t>
            </a: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把异常转成维修建议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左侧为无监督异常检测链路，右侧为 IF-THEN 规则引擎的分层结构与诊断实例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l-head"/>
          <p:cNvSpPr txBox="1"/>
          <p:nvPr/>
        </p:nvSpPr>
        <p:spPr>
          <a:xfrm>
            <a:off x="609600" y="12446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孤立森林异常检测（无监督）</a:t>
            </a:r>
            <a:endParaRPr lang="en-US" sz="1050" noProof="1"/>
          </a:p>
        </p:txBody>
      </p:sp>
      <p:sp>
        <p:nvSpPr>
          <p:cNvPr id="7" name="l-step1"/>
          <p:cNvSpPr txBox="1"/>
          <p:nvPr/>
        </p:nvSpPr>
        <p:spPr>
          <a:xfrm>
            <a:off x="609600" y="15494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训练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取 train 集健康前 30% 循环数据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无监督学习"健康状态"的分布边界</a:t>
            </a:r>
            <a:endParaRPr lang="en-US" sz="1600" noProof="1"/>
          </a:p>
        </p:txBody>
      </p:sp>
      <p:sp>
        <p:nvSpPr>
          <p:cNvPr id="8" name="l-arrow1"/>
          <p:cNvSpPr/>
          <p:nvPr/>
        </p:nvSpPr>
        <p:spPr>
          <a:xfrm>
            <a:off x="711200" y="2082800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" h="10">
                <a:moveTo>
                  <a:pt x="1" y="0"/>
                </a:moveTo>
                <a:lnTo>
                  <a:pt x="1" y="1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9" name="l-step2"/>
          <p:cNvSpPr txBox="1"/>
          <p:nvPr/>
        </p:nvSpPr>
        <p:spPr>
          <a:xfrm>
            <a:off x="609600" y="22606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检测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对最近 20 个循环打分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偏离健康分布即判为异常，自动生成预警</a:t>
            </a:r>
            <a:endParaRPr lang="en-US" sz="1600" noProof="1"/>
          </a:p>
        </p:txBody>
      </p:sp>
      <p:sp>
        <p:nvSpPr>
          <p:cNvPr id="10" name="l-arrow2"/>
          <p:cNvSpPr/>
          <p:nvPr/>
        </p:nvSpPr>
        <p:spPr>
          <a:xfrm>
            <a:off x="711200" y="2794000"/>
            <a:ext cx="25400" cy="127000"/>
          </a:xfrm>
          <a:custGeom>
            <a:avLst/>
            <a:gdLst/>
            <a:ahLst/>
            <a:cxnLst/>
            <a:rect l="l" t="t" r="r" b="b"/>
            <a:pathLst>
              <a:path w="2" h="10">
                <a:moveTo>
                  <a:pt x="1" y="0"/>
                </a:moveTo>
                <a:lnTo>
                  <a:pt x="1" y="1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11" name="l-step3"/>
          <p:cNvSpPr txBox="1"/>
          <p:nvPr/>
        </p:nvSpPr>
        <p:spPr>
          <a:xfrm>
            <a:off x="622300" y="29718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定位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3σ 规则找出具体异常传感器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监测页异常点自动标红，可追溯到传感器级</a:t>
            </a:r>
            <a:endParaRPr lang="en-US" sz="1600" noProof="1"/>
          </a:p>
        </p:txBody>
      </p:sp>
      <p:sp>
        <p:nvSpPr>
          <p:cNvPr id="12" name="v-divider"/>
          <p:cNvSpPr/>
          <p:nvPr/>
        </p:nvSpPr>
        <p:spPr>
          <a:xfrm>
            <a:off x="4470400" y="1270000"/>
            <a:ext cx="12700" cy="2844800"/>
          </a:xfrm>
          <a:custGeom>
            <a:avLst/>
            <a:gdLst/>
            <a:ahLst/>
            <a:cxnLst/>
            <a:rect l="l" t="t" r="r" b="b"/>
            <a:pathLst>
              <a:path w="1" h="224">
                <a:moveTo>
                  <a:pt x="1" y="0"/>
                </a:moveTo>
                <a:lnTo>
                  <a:pt x="1" y="224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13" name="r-head"/>
          <p:cNvSpPr txBox="1"/>
          <p:nvPr/>
        </p:nvSpPr>
        <p:spPr>
          <a:xfrm>
            <a:off x="4775200" y="1219200"/>
            <a:ext cx="375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故障诊断规则引擎</a:t>
            </a:r>
            <a:r>
              <a:rPr lang="zh-CN" alt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（共</a:t>
            </a:r>
            <a:r>
              <a:rPr lang="en-US" altLang="zh-CN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15</a:t>
            </a:r>
            <a:r>
              <a:rPr lang="zh-CN" alt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条）</a:t>
            </a:r>
            <a:endParaRPr lang="zh-CN" altLang="en-US" sz="1050" b="1" noProof="1">
              <a:solidFill>
                <a:srgbClr val="00295F"/>
              </a:solidFill>
              <a:latin typeface="Quattrocento Sans" panose="020B0502050000020003"/>
              <a:ea typeface="LXGW Bright" charset="-122"/>
            </a:endParaRPr>
          </a:p>
        </p:txBody>
      </p:sp>
      <p:graphicFrame>
        <p:nvGraphicFramePr>
          <p:cNvPr id="14" name="r-table"/>
          <p:cNvGraphicFramePr>
            <a:graphicFrameLocks noGrp="1"/>
          </p:cNvGraphicFramePr>
          <p:nvPr/>
        </p:nvGraphicFramePr>
        <p:xfrm>
          <a:off x="4775200" y="1473200"/>
          <a:ext cx="3759200" cy="1219200"/>
        </p:xfrm>
        <a:graphic>
          <a:graphicData uri="http://schemas.openxmlformats.org/drawingml/2006/table">
            <a:tbl>
              <a:tblPr/>
              <a:tblGrid>
                <a:gridCol w="601472"/>
                <a:gridCol w="751840"/>
                <a:gridCol w="2405888"/>
              </a:tblGrid>
              <a:tr h="3048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类别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数量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作用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00295F"/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Quattrocento Sans" panose="020B0502050000020003"/>
                          <a:ea typeface="LXGW Bright" charset="-122"/>
                        </a:rPr>
                        <a:t>A 类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0064BC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9 条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部件级规则，按异常传感器组合定位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  <a:tr h="3048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00295F"/>
                          </a:solidFill>
                          <a:latin typeface="Quattrocento Sans" panose="020B0502050000020003"/>
                          <a:ea typeface="LXGW Bright" charset="-122"/>
                        </a:rPr>
                        <a:t>B 类</a:t>
                      </a:r>
                      <a:endParaRPr lang="en-US" sz="850" b="1" noProof="1">
                        <a:solidFill>
                          <a:srgbClr val="00295F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BEE0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3 条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寿命阈值规则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  <a:tr h="30480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850" b="1" noProof="1">
                          <a:solidFill>
                            <a:srgbClr val="000000"/>
                          </a:solidFill>
                          <a:latin typeface="Quattrocento Sans" panose="020B0502050000020003"/>
                          <a:ea typeface="LXGW Bright" charset="-122"/>
                        </a:rPr>
                        <a:t>C 类</a:t>
                      </a:r>
                      <a:endParaRPr lang="en-US" sz="850" b="1" noProof="1">
                        <a:solidFill>
                          <a:srgbClr val="000000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solidFill>
                      <a:srgbClr val="D5D6D9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3 条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333333"/>
                          </a:solidFill>
                          <a:latin typeface="Quattrocento Sans" panose="020B0502050000020003"/>
                          <a:ea typeface="LXGW Bright" charset="-122"/>
                        </a:rPr>
                        <a:t>兜底排查规则</a:t>
                      </a:r>
                      <a:endParaRPr lang="en-US" sz="850" noProof="1">
                        <a:solidFill>
                          <a:srgbClr val="333333"/>
                        </a:solidFill>
                        <a:latin typeface="Quattrocento Sans" panose="020B0502050000020003"/>
                        <a:ea typeface="LXGW Bright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5D6D9"/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-strategy"/>
          <p:cNvSpPr txBox="1"/>
          <p:nvPr/>
        </p:nvSpPr>
        <p:spPr>
          <a:xfrm>
            <a:off x="4775200" y="27686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排查策略：先软后硬、先外后内</a:t>
            </a:r>
            <a:endParaRPr lang="en-US" sz="900" noProof="1"/>
          </a:p>
        </p:txBody>
      </p:sp>
      <p:sp>
        <p:nvSpPr>
          <p:cNvPr id="16" name="r-case"/>
          <p:cNvSpPr txBox="1"/>
          <p:nvPr/>
        </p:nvSpPr>
        <p:spPr>
          <a:xfrm>
            <a:off x="4775200" y="29972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实例：ENG-020 首位命中「</a:t>
            </a:r>
            <a:r>
              <a:rPr lang="en-US" sz="900" noProof="1">
                <a:solidFill>
                  <a:srgbClr val="000000"/>
                </a:solidFill>
                <a:highlight>
                  <a:srgbClr val="F2E292"/>
                </a:highlight>
                <a:latin typeface="Quattrocento Sans" panose="020B0502050000020003"/>
                <a:ea typeface="LXGW Bright" charset="-122"/>
              </a:rPr>
              <a:t>HPC 退化</a:t>
            </a: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」，与</a:t>
            </a:r>
            <a:r>
              <a:rPr lang="zh-CN" alt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数据集</a:t>
            </a:r>
            <a:r>
              <a:rPr lang="en-US" sz="9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真实故障一致 ↓</a:t>
            </a:r>
            <a:endParaRPr lang="en-US" sz="1600" noProof="1"/>
          </a:p>
        </p:txBody>
      </p:sp>
      <p:pic>
        <p:nvPicPr>
          <p:cNvPr id="17" name="r-case-img"/>
          <p:cNvPicPr/>
          <p:nvPr/>
        </p:nvPicPr>
        <p:blipFill>
          <a:blip r:embed="rId1"/>
          <a:srcRect t="5928" b="5928"/>
          <a:stretch>
            <a:fillRect/>
          </a:stretch>
        </p:blipFill>
        <p:spPr>
          <a:xfrm>
            <a:off x="4775200" y="3225800"/>
            <a:ext cx="3759200" cy="10668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8" name="r-case-img-border"/>
          <p:cNvSpPr/>
          <p:nvPr/>
        </p:nvSpPr>
        <p:spPr>
          <a:xfrm>
            <a:off x="4775200" y="3225800"/>
            <a:ext cx="3759200" cy="10668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19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20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诊断不用大模型而采用规则引擎：工业场景要求结论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确定、可追溯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，每条命中规则均可解释。</a:t>
            </a:r>
            <a:endParaRPr lang="en-US" sz="950" noProof="1"/>
          </a:p>
        </p:txBody>
      </p:sp>
      <p:sp>
        <p:nvSpPr>
          <p:cNvPr id="21" name="footnote"/>
          <p:cNvSpPr txBox="1"/>
          <p:nvPr/>
        </p:nvSpPr>
        <p:spPr>
          <a:xfrm>
            <a:off x="609600" y="49276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异常检测窗口 20 循环；3σ 基线取设备自身健康段；诊断实例为系统实际运行结果</a:t>
            </a:r>
            <a:endParaRPr lang="en-US" sz="800" noProof="1"/>
          </a:p>
        </p:txBody>
      </p:sp>
      <p:sp>
        <p:nvSpPr>
          <p:cNvPr id="22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06 / 10</a:t>
            </a:r>
            <a:endParaRPr lang="en-US" sz="8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04 系统与验证 | SYSTEM &amp; TESTS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七个功能页面支撑完整业务闭环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以下为系统实际运行截图（Vue 3 + Element Plus + ECharts）；另有首页总览提供健康状态分布与重点关注列表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pic>
        <p:nvPicPr>
          <p:cNvPr id="6" name="s1"/>
          <p:cNvPicPr/>
          <p:nvPr/>
        </p:nvPicPr>
        <p:blipFill>
          <a:blip r:embed="rId1"/>
          <a:srcRect l="15000"/>
          <a:stretch>
            <a:fillRect/>
          </a:stretch>
        </p:blipFill>
        <p:spPr>
          <a:xfrm>
            <a:off x="609600" y="1219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7" name="s1-border"/>
          <p:cNvSpPr/>
          <p:nvPr/>
        </p:nvSpPr>
        <p:spPr>
          <a:xfrm>
            <a:off x="609600" y="1219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8" name="s1-cap"/>
          <p:cNvSpPr txBox="1"/>
          <p:nvPr/>
        </p:nvSpPr>
        <p:spPr>
          <a:xfrm>
            <a:off x="609600" y="2438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设备台账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增删改查，管理 100 台设备</a:t>
            </a:r>
            <a:endParaRPr lang="en-US" sz="850" noProof="1"/>
          </a:p>
        </p:txBody>
      </p:sp>
      <p:pic>
        <p:nvPicPr>
          <p:cNvPr id="9" name="s2"/>
          <p:cNvPicPr/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3302000" y="1219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0" name="s2-border"/>
          <p:cNvSpPr/>
          <p:nvPr/>
        </p:nvSpPr>
        <p:spPr>
          <a:xfrm>
            <a:off x="3302000" y="1219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11" name="s2-cap"/>
          <p:cNvSpPr txBox="1"/>
          <p:nvPr/>
        </p:nvSpPr>
        <p:spPr>
          <a:xfrm>
            <a:off x="3302000" y="2438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数据监测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四子图独立 Y 轴，异常标红</a:t>
            </a:r>
            <a:endParaRPr lang="en-US" sz="850" noProof="1"/>
          </a:p>
        </p:txBody>
      </p:sp>
      <p:pic>
        <p:nvPicPr>
          <p:cNvPr id="12" name="s3"/>
          <p:cNvPicPr/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5994400" y="1219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3" name="s3-border"/>
          <p:cNvSpPr/>
          <p:nvPr/>
        </p:nvSpPr>
        <p:spPr>
          <a:xfrm>
            <a:off x="5994400" y="1219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14" name="s3-cap"/>
          <p:cNvSpPr txBox="1"/>
          <p:nvPr/>
        </p:nvSpPr>
        <p:spPr>
          <a:xfrm>
            <a:off x="5994400" y="2438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健康评估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RUL + 健康度，历史可回溯</a:t>
            </a:r>
            <a:endParaRPr lang="en-US" sz="850" noProof="1"/>
          </a:p>
        </p:txBody>
      </p:sp>
      <p:pic>
        <p:nvPicPr>
          <p:cNvPr id="15" name="s4"/>
          <p:cNvPicPr/>
          <p:nvPr/>
        </p:nvPicPr>
        <p:blipFill>
          <a:blip r:embed="rId4"/>
          <a:srcRect l="15000"/>
          <a:stretch>
            <a:fillRect/>
          </a:stretch>
        </p:blipFill>
        <p:spPr>
          <a:xfrm>
            <a:off x="609600" y="2743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6" name="s4-border"/>
          <p:cNvSpPr/>
          <p:nvPr/>
        </p:nvSpPr>
        <p:spPr>
          <a:xfrm>
            <a:off x="609600" y="2743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17" name="s4-cap"/>
          <p:cNvSpPr txBox="1"/>
          <p:nvPr/>
        </p:nvSpPr>
        <p:spPr>
          <a:xfrm>
            <a:off x="609600" y="3962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预警中心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提示 / 警告 / 严重三级预警</a:t>
            </a:r>
            <a:endParaRPr lang="en-US" sz="850" noProof="1"/>
          </a:p>
        </p:txBody>
      </p:sp>
      <p:pic>
        <p:nvPicPr>
          <p:cNvPr id="18" name="s5"/>
          <p:cNvPicPr/>
          <p:nvPr/>
        </p:nvPicPr>
        <p:blipFill>
          <a:blip r:embed="rId5"/>
          <a:srcRect l="15000"/>
          <a:stretch>
            <a:fillRect/>
          </a:stretch>
        </p:blipFill>
        <p:spPr>
          <a:xfrm>
            <a:off x="3302000" y="2743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9" name="s5-border"/>
          <p:cNvSpPr/>
          <p:nvPr/>
        </p:nvSpPr>
        <p:spPr>
          <a:xfrm>
            <a:off x="3302000" y="2743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20" name="s5-cap"/>
          <p:cNvSpPr txBox="1"/>
          <p:nvPr/>
        </p:nvSpPr>
        <p:spPr>
          <a:xfrm>
            <a:off x="3302000" y="3962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智能诊断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规则命中卡片 + 排查优先级</a:t>
            </a:r>
            <a:endParaRPr lang="en-US" sz="850" noProof="1"/>
          </a:p>
        </p:txBody>
      </p:sp>
      <p:pic>
        <p:nvPicPr>
          <p:cNvPr id="21" name="s6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994400" y="2743200"/>
            <a:ext cx="2540000" cy="11684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22" name="s6-border"/>
          <p:cNvSpPr/>
          <p:nvPr/>
        </p:nvSpPr>
        <p:spPr>
          <a:xfrm>
            <a:off x="5994400" y="2743200"/>
            <a:ext cx="2540000" cy="11684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23" name="s6-cap"/>
          <p:cNvSpPr txBox="1"/>
          <p:nvPr/>
        </p:nvSpPr>
        <p:spPr>
          <a:xfrm>
            <a:off x="5994400" y="3962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维修工单</a:t>
            </a: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　一键生成，状态流转闭环</a:t>
            </a:r>
            <a:endParaRPr lang="en-US" sz="850" noProof="1"/>
          </a:p>
        </p:txBody>
      </p:sp>
      <p:sp>
        <p:nvSpPr>
          <p:cNvPr id="24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25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预警到工单的「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一键生成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」是业务闭环的关键动作：发现异常后无需手工录入即可进入处置流程。</a:t>
            </a:r>
            <a:endParaRPr lang="en-US" sz="950" noProof="1"/>
          </a:p>
        </p:txBody>
      </p:sp>
      <p:sp>
        <p:nvSpPr>
          <p:cNvPr id="26" name="footnote"/>
          <p:cNvSpPr txBox="1"/>
          <p:nvPr/>
        </p:nvSpPr>
        <p:spPr>
          <a:xfrm>
            <a:off x="609600" y="49276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截图来自系统实际运行（localhost:5173），预警级别：提示 ≤90 / 警告 ≤60 / 严重 ≤30</a:t>
            </a:r>
            <a:endParaRPr lang="en-US" sz="800" noProof="1"/>
          </a:p>
        </p:txBody>
      </p:sp>
      <p:sp>
        <p:nvSpPr>
          <p:cNvPr id="27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07 / 10</a:t>
            </a:r>
            <a:endParaRPr lang="en-US" sz="8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04 系统与验证 | SYSTEM &amp; TESTS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17 项自动化测试全部通过，覆盖接口到业务闭环联调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左为测试规模与覆盖范围，右为调试中最典型的一个基线问题及其解法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big-num"/>
          <p:cNvSpPr txBox="1"/>
          <p:nvPr/>
        </p:nvSpPr>
        <p:spPr>
          <a:xfrm>
            <a:off x="609600" y="13462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17</a:t>
            </a:r>
            <a:r>
              <a:rPr lang="en-US" sz="12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 项 pytest 全部通过</a:t>
            </a:r>
            <a:endParaRPr lang="en-US" sz="1600" noProof="1"/>
          </a:p>
        </p:txBody>
      </p:sp>
      <p:sp>
        <p:nvSpPr>
          <p:cNvPr id="7" name="coverage"/>
          <p:cNvSpPr txBox="1"/>
          <p:nvPr/>
        </p:nvSpPr>
        <p:spPr>
          <a:xfrm>
            <a:off x="609600" y="2235200"/>
            <a:ext cx="3302000" cy="187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覆盖范围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· 后端接口：CRUD / 预测 / 诊断 / 异常检测 / 工单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· 规则引擎：15 条规则的命中逻辑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· 业务闭环：监测 → 预警 → 诊断 → 工单联调</a:t>
            </a:r>
            <a:endParaRPr lang="en-US" sz="1600" noProof="1"/>
          </a:p>
        </p:txBody>
      </p:sp>
      <p:sp>
        <p:nvSpPr>
          <p:cNvPr id="8" name="v-divider"/>
          <p:cNvSpPr/>
          <p:nvPr/>
        </p:nvSpPr>
        <p:spPr>
          <a:xfrm>
            <a:off x="4267200" y="1270000"/>
            <a:ext cx="12700" cy="2844800"/>
          </a:xfrm>
          <a:custGeom>
            <a:avLst/>
            <a:gdLst/>
            <a:ahLst/>
            <a:cxnLst/>
            <a:rect l="l" t="t" r="r" b="b"/>
            <a:pathLst>
              <a:path w="1" h="224">
                <a:moveTo>
                  <a:pt x="1" y="0"/>
                </a:moveTo>
                <a:lnTo>
                  <a:pt x="1" y="224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9" name="case-head"/>
          <p:cNvSpPr txBox="1"/>
          <p:nvPr/>
        </p:nvSpPr>
        <p:spPr>
          <a:xfrm>
            <a:off x="4572000" y="1346200"/>
            <a:ext cx="3962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典型问题：异常标注"标不出来"</a:t>
            </a:r>
            <a:endParaRPr lang="en-US" sz="1050" noProof="1"/>
          </a:p>
        </p:txBody>
      </p:sp>
      <p:sp>
        <p:nvSpPr>
          <p:cNvPr id="10" name="case-before"/>
          <p:cNvSpPr txBox="1"/>
          <p:nvPr/>
        </p:nvSpPr>
        <p:spPr>
          <a:xfrm>
            <a:off x="4572000" y="1651000"/>
            <a:ext cx="3962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问题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最初用</a:t>
            </a:r>
            <a:r>
              <a:rPr lang="en-US" sz="950" noProof="1">
                <a:solidFill>
                  <a:srgbClr val="000000"/>
                </a:solidFill>
                <a:highlight>
                  <a:srgbClr val="F2E292"/>
                </a:highlight>
                <a:latin typeface="Quattrocento Sans" panose="020B0502050000020003"/>
                <a:ea typeface="LXGW Bright" charset="-122"/>
              </a:rPr>
              <a:t>全机群 3σ 基线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判定异常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结果几乎标不出异常点：设备个体之间的差异，比单台设备自身的退化幅度还大</a:t>
            </a:r>
            <a:endParaRPr lang="en-US" sz="1600" noProof="1"/>
          </a:p>
        </p:txBody>
      </p:sp>
      <p:sp>
        <p:nvSpPr>
          <p:cNvPr id="11" name="case-arrow"/>
          <p:cNvSpPr/>
          <p:nvPr/>
        </p:nvSpPr>
        <p:spPr>
          <a:xfrm>
            <a:off x="4673600" y="2413000"/>
            <a:ext cx="25400" cy="152400"/>
          </a:xfrm>
          <a:custGeom>
            <a:avLst/>
            <a:gdLst/>
            <a:ahLst/>
            <a:cxnLst/>
            <a:rect l="l" t="t" r="r" b="b"/>
            <a:pathLst>
              <a:path w="2" h="12">
                <a:moveTo>
                  <a:pt x="1" y="0"/>
                </a:moveTo>
                <a:lnTo>
                  <a:pt x="1" y="12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tailEnd type="arrow"/>
          </a:ln>
        </p:spPr>
      </p:sp>
      <p:sp>
        <p:nvSpPr>
          <p:cNvPr id="12" name="case-after"/>
          <p:cNvSpPr txBox="1"/>
          <p:nvPr/>
        </p:nvSpPr>
        <p:spPr>
          <a:xfrm>
            <a:off x="4572000" y="2641600"/>
            <a:ext cx="3962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解法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　改为</a:t>
            </a:r>
            <a:r>
              <a:rPr lang="en-US" sz="950" b="1" noProof="1">
                <a:solidFill>
                  <a:srgbClr val="0064BC"/>
                </a:solidFill>
                <a:latin typeface="Quattrocento Sans" panose="020B0502050000020003"/>
                <a:ea typeface="LXGW Bright" charset="-122"/>
              </a:rPr>
              <a:t>设备自身健康段基线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（前 30% 循环）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每台设备只和"自己的健康期"比较，退化引起的偏移立即变得可检测</a:t>
            </a:r>
            <a:endParaRPr lang="en-US" sz="1600" noProof="1"/>
          </a:p>
        </p:txBody>
      </p:sp>
      <p:pic>
        <p:nvPicPr>
          <p:cNvPr id="13" name="case-img"/>
          <p:cNvPicPr/>
          <p:nvPr/>
        </p:nvPicPr>
        <p:blipFill>
          <a:blip r:embed="rId1"/>
          <a:srcRect t="7509" b="7509"/>
          <a:stretch>
            <a:fillRect/>
          </a:stretch>
        </p:blipFill>
        <p:spPr>
          <a:xfrm>
            <a:off x="4572000" y="3454400"/>
            <a:ext cx="3962400" cy="736600"/>
          </a:xfrm>
          <a:prstGeom prst="rect">
            <a:avLst/>
          </a:prstGeom>
          <a:ln>
            <a:noFill/>
          </a:ln>
          <a:effectLst>
            <a:outerShdw blurRad="76200" dist="25400" dir="5400000" algn="bl" rotWithShape="0">
              <a:srgbClr val="000000">
                <a:alpha val="13333"/>
              </a:srgbClr>
            </a:outerShdw>
          </a:effectLst>
        </p:spPr>
      </p:pic>
      <p:sp>
        <p:nvSpPr>
          <p:cNvPr id="14" name="case-img-border"/>
          <p:cNvSpPr/>
          <p:nvPr/>
        </p:nvSpPr>
        <p:spPr>
          <a:xfrm>
            <a:off x="4572000" y="3454400"/>
            <a:ext cx="3962400" cy="736600"/>
          </a:xfrm>
          <a:prstGeom prst="rect">
            <a:avLst/>
          </a:prstGeom>
          <a:noFill/>
          <a:ln w="9525">
            <a:solidFill>
              <a:srgbClr val="D5D6D9"/>
            </a:solidFill>
          </a:ln>
        </p:spPr>
      </p:sp>
      <p:sp>
        <p:nvSpPr>
          <p:cNvPr id="15" name="case-bar-label"/>
          <p:cNvSpPr txBox="1"/>
          <p:nvPr/>
        </p:nvSpPr>
        <p:spPr>
          <a:xfrm>
            <a:off x="4572000" y="4216400"/>
            <a:ext cx="3962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系统实测：单机基线下，ENG-020 退化末期异常点稳定标红</a:t>
            </a:r>
            <a:endParaRPr lang="en-US" sz="800" noProof="1"/>
          </a:p>
        </p:txBody>
      </p:sp>
      <p:sp>
        <p:nvSpPr>
          <p:cNvPr id="16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17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调试结论：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台间差异 &gt; 单机退化幅度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，异常基线必须从全机群改为单设备自身——这一认知也反哺了孤立森林的训练数据选择。</a:t>
            </a:r>
            <a:endParaRPr lang="en-US" sz="950" noProof="1"/>
          </a:p>
        </p:txBody>
      </p:sp>
      <p:sp>
        <p:nvSpPr>
          <p:cNvPr id="18" name="footnote"/>
          <p:cNvSpPr txBox="1"/>
          <p:nvPr/>
        </p:nvSpPr>
        <p:spPr>
          <a:xfrm>
            <a:off x="609600" y="4927600"/>
            <a:ext cx="660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测试框架：pytest；17 项测试含接口、规则命中与业务闭环联调，全部通过</a:t>
            </a:r>
            <a:endParaRPr lang="en-US" sz="800" noProof="1"/>
          </a:p>
        </p:txBody>
      </p:sp>
      <p:sp>
        <p:nvSpPr>
          <p:cNvPr id="19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08 / 10</a:t>
            </a:r>
            <a:endParaRPr lang="en-US" sz="8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27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05 总结展望 | CONCLUSION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08000"/>
            <a:ext cx="7924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架构完整、闭环可演示、测试通过；两项不足已有改进方向</a:t>
            </a:r>
            <a:endParaRPr lang="en-US" sz="1600" noProof="1"/>
          </a:p>
        </p:txBody>
      </p:sp>
      <p:sp>
        <p:nvSpPr>
          <p:cNvPr id="4" name="subtitle"/>
          <p:cNvSpPr txBox="1"/>
          <p:nvPr/>
        </p:nvSpPr>
        <p:spPr>
          <a:xfrm>
            <a:off x="609600" y="812800"/>
            <a:ext cx="792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左侧为完成的三项工作，右侧为当前局限与对应的下一步改进</a:t>
            </a:r>
            <a:endParaRPr lang="en-US" sz="950" noProof="1"/>
          </a:p>
        </p:txBody>
      </p:sp>
      <p:sp>
        <p:nvSpPr>
          <p:cNvPr id="5" name="head-rule"/>
          <p:cNvSpPr/>
          <p:nvPr/>
        </p:nvSpPr>
        <p:spPr>
          <a:xfrm>
            <a:off x="609600" y="1066800"/>
            <a:ext cx="7924800" cy="12700"/>
          </a:xfrm>
          <a:custGeom>
            <a:avLst/>
            <a:gdLst/>
            <a:ahLst/>
            <a:cxnLst/>
            <a:rect l="l" t="t" r="r" b="b"/>
            <a:pathLst>
              <a:path w="624" h="1">
                <a:moveTo>
                  <a:pt x="0" y="1"/>
                </a:moveTo>
                <a:lnTo>
                  <a:pt x="624" y="1"/>
                </a:lnTo>
              </a:path>
            </a:pathLst>
          </a:custGeom>
          <a:noFill/>
          <a:ln w="9525" cap="rnd">
            <a:solidFill>
              <a:srgbClr val="00ACEE"/>
            </a:solidFill>
            <a:round/>
          </a:ln>
        </p:spPr>
      </p:sp>
      <p:sp>
        <p:nvSpPr>
          <p:cNvPr id="6" name="l-head"/>
          <p:cNvSpPr txBox="1"/>
          <p:nvPr/>
        </p:nvSpPr>
        <p:spPr>
          <a:xfrm>
            <a:off x="609600" y="12700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完成工作</a:t>
            </a:r>
            <a:endParaRPr lang="en-US" sz="1050" noProof="1"/>
          </a:p>
        </p:txBody>
      </p:sp>
      <p:sp>
        <p:nvSpPr>
          <p:cNvPr id="7" name="c1-icon"/>
          <p:cNvSpPr/>
          <p:nvPr/>
        </p:nvSpPr>
        <p:spPr>
          <a:xfrm>
            <a:off x="609600" y="162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ACEE"/>
          </a:solidFill>
          <a:ln>
            <a:noFill/>
          </a:ln>
        </p:spPr>
      </p:sp>
      <p:sp>
        <p:nvSpPr>
          <p:cNvPr id="8" name="c1"/>
          <p:cNvSpPr txBox="1"/>
          <p:nvPr/>
        </p:nvSpPr>
        <p:spPr>
          <a:xfrm>
            <a:off x="889000" y="15748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架构完整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前端 / 后端 / 数据库 / 算法四要素齐全</a:t>
            </a:r>
            <a:endParaRPr lang="en-US" sz="1600" noProof="1"/>
          </a:p>
        </p:txBody>
      </p:sp>
      <p:sp>
        <p:nvSpPr>
          <p:cNvPr id="9" name="c2-icon"/>
          <p:cNvSpPr/>
          <p:nvPr/>
        </p:nvSpPr>
        <p:spPr>
          <a:xfrm>
            <a:off x="609600" y="2362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ACEE"/>
          </a:solidFill>
          <a:ln>
            <a:noFill/>
          </a:ln>
        </p:spPr>
      </p:sp>
      <p:sp>
        <p:nvSpPr>
          <p:cNvPr id="10" name="c2"/>
          <p:cNvSpPr txBox="1"/>
          <p:nvPr/>
        </p:nvSpPr>
        <p:spPr>
          <a:xfrm>
            <a:off x="889000" y="23114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业务闭环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从监测到工单全流程可在系统中演示</a:t>
            </a:r>
            <a:endParaRPr lang="en-US" sz="1600" noProof="1"/>
          </a:p>
        </p:txBody>
      </p:sp>
      <p:sp>
        <p:nvSpPr>
          <p:cNvPr id="11" name="c3-icon"/>
          <p:cNvSpPr/>
          <p:nvPr/>
        </p:nvSpPr>
        <p:spPr>
          <a:xfrm>
            <a:off x="609600" y="3098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0ACEE"/>
          </a:solidFill>
          <a:ln>
            <a:noFill/>
          </a:ln>
        </p:spPr>
      </p:sp>
      <p:sp>
        <p:nvSpPr>
          <p:cNvPr id="12" name="c3"/>
          <p:cNvSpPr txBox="1"/>
          <p:nvPr/>
        </p:nvSpPr>
        <p:spPr>
          <a:xfrm>
            <a:off x="889000" y="3048000"/>
            <a:ext cx="3302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测试通过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85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17 项自动化测试全部通过，含闭环联调</a:t>
            </a:r>
            <a:endParaRPr lang="en-US" sz="1600" noProof="1"/>
          </a:p>
        </p:txBody>
      </p:sp>
      <p:sp>
        <p:nvSpPr>
          <p:cNvPr id="13" name="v-divider"/>
          <p:cNvSpPr/>
          <p:nvPr/>
        </p:nvSpPr>
        <p:spPr>
          <a:xfrm>
            <a:off x="4521200" y="1270000"/>
            <a:ext cx="12700" cy="2844800"/>
          </a:xfrm>
          <a:custGeom>
            <a:avLst/>
            <a:gdLst/>
            <a:ahLst/>
            <a:cxnLst/>
            <a:rect l="l" t="t" r="r" b="b"/>
            <a:pathLst>
              <a:path w="1" h="224">
                <a:moveTo>
                  <a:pt x="1" y="0"/>
                </a:moveTo>
                <a:lnTo>
                  <a:pt x="1" y="224"/>
                </a:lnTo>
              </a:path>
            </a:pathLst>
          </a:custGeom>
          <a:noFill/>
          <a:ln w="6350" cap="rnd">
            <a:solidFill>
              <a:srgbClr val="D5D6D9"/>
            </a:solidFill>
            <a:round/>
          </a:ln>
        </p:spPr>
      </p:sp>
      <p:sp>
        <p:nvSpPr>
          <p:cNvPr id="14" name="r-head"/>
          <p:cNvSpPr txBox="1"/>
          <p:nvPr/>
        </p:nvSpPr>
        <p:spPr>
          <a:xfrm>
            <a:off x="4826000" y="1270000"/>
            <a:ext cx="3708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不足与改进方向</a:t>
            </a:r>
            <a:endParaRPr lang="en-US" sz="1050" noProof="1"/>
          </a:p>
        </p:txBody>
      </p:sp>
      <p:sp>
        <p:nvSpPr>
          <p:cNvPr id="15" name="r1"/>
          <p:cNvSpPr txBox="1"/>
          <p:nvPr/>
        </p:nvSpPr>
        <p:spPr>
          <a:xfrm>
            <a:off x="4805680" y="1803400"/>
            <a:ext cx="370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· LSTM 目前仅做对比实验，未接入在线推理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900" b="1" noProof="1">
                <a:solidFill>
                  <a:srgbClr val="0064BC"/>
                </a:solidFill>
                <a:latin typeface="Quattrocento Sans" panose="020B0502050000020003"/>
                <a:ea typeface="LXGW Bright" charset="-122"/>
              </a:rPr>
              <a:t>→ 改进：</a:t>
            </a: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部署为独立推理服务，与随机森林双模型并行</a:t>
            </a:r>
            <a:endParaRPr lang="en-US" sz="1600" noProof="1"/>
          </a:p>
        </p:txBody>
      </p:sp>
      <p:sp>
        <p:nvSpPr>
          <p:cNvPr id="16" name="r-rule"/>
          <p:cNvSpPr/>
          <p:nvPr/>
        </p:nvSpPr>
        <p:spPr>
          <a:xfrm>
            <a:off x="4805680" y="2557780"/>
            <a:ext cx="3708400" cy="12700"/>
          </a:xfrm>
          <a:custGeom>
            <a:avLst/>
            <a:gdLst/>
            <a:ahLst/>
            <a:cxnLst/>
            <a:rect l="l" t="t" r="r" b="b"/>
            <a:pathLst>
              <a:path w="292" h="1">
                <a:moveTo>
                  <a:pt x="0" y="1"/>
                </a:moveTo>
                <a:lnTo>
                  <a:pt x="292" y="1"/>
                </a:lnTo>
              </a:path>
            </a:pathLst>
          </a:custGeom>
          <a:noFill/>
          <a:ln w="6350" cap="rnd">
            <a:solidFill>
              <a:srgbClr val="D5D6D9"/>
            </a:solidFill>
            <a:prstDash val="dash"/>
            <a:round/>
          </a:ln>
        </p:spPr>
      </p:sp>
      <p:sp>
        <p:nvSpPr>
          <p:cNvPr id="17" name="r2"/>
          <p:cNvSpPr txBox="1"/>
          <p:nvPr/>
        </p:nvSpPr>
        <p:spPr>
          <a:xfrm>
            <a:off x="4826000" y="3149600"/>
            <a:ext cx="3708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· 仅验证 FD001 单工况、单故障模式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lang="en-US" sz="900" b="1" noProof="1">
                <a:solidFill>
                  <a:srgbClr val="0064BC"/>
                </a:solidFill>
                <a:latin typeface="Quattrocento Sans" panose="020B0502050000020003"/>
                <a:ea typeface="LXGW Bright" charset="-122"/>
              </a:rPr>
              <a:t>→ 改进：</a:t>
            </a:r>
            <a:r>
              <a:rPr lang="en-US" sz="9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扩展 FD002~FD004 多工况数据集，检验泛化能力</a:t>
            </a:r>
            <a:endParaRPr lang="en-US" sz="1600" noProof="1"/>
          </a:p>
        </p:txBody>
      </p:sp>
      <p:sp>
        <p:nvSpPr>
          <p:cNvPr id="20" name="strip"/>
          <p:cNvSpPr/>
          <p:nvPr/>
        </p:nvSpPr>
        <p:spPr>
          <a:xfrm>
            <a:off x="0" y="4368800"/>
            <a:ext cx="9144000" cy="508000"/>
          </a:xfrm>
          <a:prstGeom prst="rect">
            <a:avLst/>
          </a:prstGeom>
          <a:solidFill>
            <a:srgbClr val="F1F2F1"/>
          </a:solidFill>
          <a:ln>
            <a:noFill/>
          </a:ln>
        </p:spPr>
      </p:sp>
      <p:sp>
        <p:nvSpPr>
          <p:cNvPr id="21" name="strip-text"/>
          <p:cNvSpPr txBox="1"/>
          <p:nvPr/>
        </p:nvSpPr>
        <p:spPr>
          <a:xfrm>
            <a:off x="609600" y="4368800"/>
            <a:ext cx="7924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50" b="1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本页要点　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课程四大技术方向全部落地并形成闭环；局限认识清晰，下一步聚焦 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LSTM 在线化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与</a:t>
            </a:r>
            <a:r>
              <a:rPr lang="en-US" sz="950" b="1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多工况验证</a:t>
            </a:r>
            <a:r>
              <a:rPr lang="en-US" sz="95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。</a:t>
            </a:r>
            <a:endParaRPr lang="en-US" sz="950" noProof="1"/>
          </a:p>
        </p:txBody>
      </p:sp>
      <p:sp>
        <p:nvSpPr>
          <p:cNvPr id="22" name="footnote"/>
          <p:cNvSpPr txBox="1"/>
          <p:nvPr/>
        </p:nvSpPr>
        <p:spPr>
          <a:xfrm>
            <a:off x="609600" y="49276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AI 辅助开发披露：Kimi Code + K3 模型；关键逻辑（特征提取、规则匹配、阈值判定）经本人逐行复核</a:t>
            </a:r>
            <a:endParaRPr lang="en-US" sz="800" noProof="1"/>
          </a:p>
        </p:txBody>
      </p:sp>
      <p:sp>
        <p:nvSpPr>
          <p:cNvPr id="23" name="pagenum"/>
          <p:cNvSpPr txBox="1"/>
          <p:nvPr/>
        </p:nvSpPr>
        <p:spPr>
          <a:xfrm>
            <a:off x="7620000" y="4927600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09 / 10</a:t>
            </a:r>
            <a:endParaRPr lang="en-US" sz="8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1"/>
          <a:srcRect l="27948" r="27948"/>
          <a:stretch>
            <a:fillRect/>
          </a:stretch>
        </p:blipFill>
        <p:spPr>
          <a:xfrm>
            <a:off x="5740400" y="0"/>
            <a:ext cx="3403600" cy="5143500"/>
          </a:xfrm>
          <a:prstGeom prst="rect">
            <a:avLst/>
          </a:prstGeom>
          <a:ln>
            <a:noFill/>
          </a:ln>
        </p:spPr>
      </p:pic>
      <p:sp>
        <p:nvSpPr>
          <p:cNvPr id="3" name="photo-mask"/>
          <p:cNvSpPr/>
          <p:nvPr/>
        </p:nvSpPr>
        <p:spPr>
          <a:xfrm>
            <a:off x="5334000" y="0"/>
            <a:ext cx="508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eyebrow"/>
          <p:cNvSpPr txBox="1"/>
          <p:nvPr/>
        </p:nvSpPr>
        <p:spPr>
          <a:xfrm>
            <a:off x="711200" y="15240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200" noProof="1">
                <a:solidFill>
                  <a:srgbClr val="00ACEE"/>
                </a:solidFill>
                <a:latin typeface="Quattrocento Sans" panose="020B0502050000020003"/>
                <a:ea typeface="LXGW Bright" charset="-122"/>
              </a:rPr>
              <a:t>《制造智能技术》课程设计 · 2026</a:t>
            </a:r>
            <a:endParaRPr lang="en-US" sz="900" noProof="1"/>
          </a:p>
        </p:txBody>
      </p:sp>
      <p:sp>
        <p:nvSpPr>
          <p:cNvPr id="5" name="title"/>
          <p:cNvSpPr txBox="1"/>
          <p:nvPr/>
        </p:nvSpPr>
        <p:spPr>
          <a:xfrm>
            <a:off x="711200" y="18542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00295F"/>
                </a:solidFill>
                <a:latin typeface="Quattrocento Sans" panose="020B0502050000020003"/>
                <a:ea typeface="LXGW Bright" charset="-122"/>
              </a:rPr>
              <a:t>感谢聆听</a:t>
            </a:r>
            <a:endParaRPr lang="en-US" sz="3400" noProof="1"/>
          </a:p>
        </p:txBody>
      </p:sp>
      <p:sp>
        <p:nvSpPr>
          <p:cNvPr id="6" name="rule"/>
          <p:cNvSpPr/>
          <p:nvPr/>
        </p:nvSpPr>
        <p:spPr>
          <a:xfrm>
            <a:off x="711200" y="2743200"/>
            <a:ext cx="914400" cy="25400"/>
          </a:xfrm>
          <a:custGeom>
            <a:avLst/>
            <a:gdLst/>
            <a:ahLst/>
            <a:cxnLst/>
            <a:rect l="l" t="t" r="r" b="b"/>
            <a:pathLst>
              <a:path w="72" h="2">
                <a:moveTo>
                  <a:pt x="0" y="1"/>
                </a:moveTo>
                <a:lnTo>
                  <a:pt x="72" y="1"/>
                </a:lnTo>
              </a:path>
            </a:pathLst>
          </a:custGeom>
          <a:noFill/>
          <a:ln w="25400" cap="rnd">
            <a:solidFill>
              <a:srgbClr val="00ACEE"/>
            </a:solidFill>
            <a:round/>
          </a:ln>
        </p:spPr>
      </p:sp>
      <p:sp>
        <p:nvSpPr>
          <p:cNvPr id="7" name="sub"/>
          <p:cNvSpPr txBox="1"/>
          <p:nvPr/>
        </p:nvSpPr>
        <p:spPr>
          <a:xfrm>
            <a:off x="711200" y="2946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000000"/>
                </a:solidFill>
                <a:latin typeface="Quattrocento Sans" panose="020B0502050000020003"/>
                <a:ea typeface="LXGW Bright" charset="-122"/>
              </a:rPr>
              <a:t>敬请各位老师批评指正</a:t>
            </a:r>
            <a:endParaRPr lang="en-US" sz="1200" noProof="1"/>
          </a:p>
        </p:txBody>
      </p:sp>
      <p:sp>
        <p:nvSpPr>
          <p:cNvPr id="8" name="info"/>
          <p:cNvSpPr txBox="1"/>
          <p:nvPr/>
        </p:nvSpPr>
        <p:spPr>
          <a:xfrm>
            <a:off x="711200" y="37084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endParaRPr lang="en-US" sz="950" noProof="1"/>
          </a:p>
        </p:txBody>
      </p:sp>
      <p:sp>
        <p:nvSpPr>
          <p:cNvPr id="9" name="pagenum"/>
          <p:cNvSpPr txBox="1"/>
          <p:nvPr/>
        </p:nvSpPr>
        <p:spPr>
          <a:xfrm>
            <a:off x="5334000" y="4876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6B7280"/>
                </a:solidFill>
                <a:latin typeface="Quattrocento Sans" panose="020B0502050000020003"/>
                <a:ea typeface="LXGW Bright" charset="-122"/>
              </a:rPr>
              <a:t>10 / 10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3287</Words>
  <Application>WPS 演示</Application>
  <PresentationFormat/>
  <Paragraphs>301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Quattrocento Sans</vt:lpstr>
      <vt:lpstr>LXGW Bright</vt:lpstr>
      <vt:lpstr>Arial</vt:lpstr>
      <vt:lpstr>MiSans</vt:lpstr>
      <vt:lpstr>微软雅黑</vt:lpstr>
      <vt:lpstr>Arial Unicode MS</vt:lpstr>
      <vt:lpstr>Calibri</vt:lpstr>
      <vt:lpstr>MS PGothic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工业设备智能运维与预测性维护平台 · 课程设计答辩</dc:title>
  <dc:creator/>
  <cp:lastModifiedBy>虞恩溢</cp:lastModifiedBy>
  <cp:revision>2</cp:revision>
  <dcterms:created xsi:type="dcterms:W3CDTF">2026-09-03T16:00:09Z</dcterms:created>
  <dcterms:modified xsi:type="dcterms:W3CDTF">2026-09-03T16:00:20Z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2052-12.1.0.28505</vt:lpwstr>
  </property>
  <property fmtid="{D5CDD505-2E9C-101B-9397-08002B2CF9AE}" pid="4" name="ICV">
    <vt:lpwstr>EC4FF0E3DBF745F58A81B8E55F681053_12</vt:lpwstr>
  </property>
</Properties>
</file>